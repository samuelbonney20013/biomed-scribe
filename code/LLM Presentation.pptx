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D273BC-C50E-4116-AD36-E144648821CA}" v="2" dt="2026-04-20T21:14:19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onney" userId="78fa7b86a5925a04" providerId="LiveId" clId="{E7893AD7-FC5E-4A74-A0C3-F30117A52F95}"/>
    <pc:docChg chg="modSld">
      <pc:chgData name="Samuel Bonney" userId="78fa7b86a5925a04" providerId="LiveId" clId="{E7893AD7-FC5E-4A74-A0C3-F30117A52F95}" dt="2026-04-20T21:14:19.500" v="123"/>
      <pc:docMkLst>
        <pc:docMk/>
      </pc:docMkLst>
      <pc:sldChg chg="modSp mod">
        <pc:chgData name="Samuel Bonney" userId="78fa7b86a5925a04" providerId="LiveId" clId="{E7893AD7-FC5E-4A74-A0C3-F30117A52F95}" dt="2026-04-20T17:31:03.005" v="43" actId="20577"/>
        <pc:sldMkLst>
          <pc:docMk/>
          <pc:sldMk cId="0" sldId="263"/>
        </pc:sldMkLst>
        <pc:spChg chg="mod">
          <ac:chgData name="Samuel Bonney" userId="78fa7b86a5925a04" providerId="LiveId" clId="{E7893AD7-FC5E-4A74-A0C3-F30117A52F95}" dt="2026-04-20T17:31:03.005" v="43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amuel Bonney" userId="78fa7b86a5925a04" providerId="LiveId" clId="{E7893AD7-FC5E-4A74-A0C3-F30117A52F95}" dt="2026-04-20T17:30:58.629" v="37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Samuel Bonney" userId="78fa7b86a5925a04" providerId="LiveId" clId="{E7893AD7-FC5E-4A74-A0C3-F30117A52F95}" dt="2026-04-20T21:14:19.500" v="123"/>
        <pc:sldMkLst>
          <pc:docMk/>
          <pc:sldMk cId="0" sldId="264"/>
        </pc:sldMkLst>
        <pc:spChg chg="mod">
          <ac:chgData name="Samuel Bonney" userId="78fa7b86a5925a04" providerId="LiveId" clId="{E7893AD7-FC5E-4A74-A0C3-F30117A52F95}" dt="2026-04-20T21:14:19.500" v="123"/>
          <ac:spMkLst>
            <pc:docMk/>
            <pc:sldMk cId="0" sldId="264"/>
            <ac:spMk id="36" creationId="{00000000-0000-0000-0000-000000000000}"/>
          </ac:spMkLst>
        </pc:spChg>
      </pc:sldChg>
      <pc:sldChg chg="modSp mod">
        <pc:chgData name="Samuel Bonney" userId="78fa7b86a5925a04" providerId="LiveId" clId="{E7893AD7-FC5E-4A74-A0C3-F30117A52F95}" dt="2026-04-20T17:06:43.987" v="29" actId="20577"/>
        <pc:sldMkLst>
          <pc:docMk/>
          <pc:sldMk cId="0" sldId="267"/>
        </pc:sldMkLst>
        <pc:spChg chg="mod">
          <ac:chgData name="Samuel Bonney" userId="78fa7b86a5925a04" providerId="LiveId" clId="{E7893AD7-FC5E-4A74-A0C3-F30117A52F95}" dt="2026-04-20T17:06:37.051" v="2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Samuel Bonney" userId="78fa7b86a5925a04" providerId="LiveId" clId="{E7893AD7-FC5E-4A74-A0C3-F30117A52F95}" dt="2026-04-20T02:41:45.849" v="20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Samuel Bonney" userId="78fa7b86a5925a04" providerId="LiveId" clId="{E7893AD7-FC5E-4A74-A0C3-F30117A52F95}" dt="2026-04-20T17:06:43.987" v="29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amuel Bonney" userId="78fa7b86a5925a04" providerId="LiveId" clId="{E7893AD7-FC5E-4A74-A0C3-F30117A52F95}" dt="2026-04-20T02:41:50.980" v="21" actId="14100"/>
          <ac:spMkLst>
            <pc:docMk/>
            <pc:sldMk cId="0" sldId="267"/>
            <ac:spMk id="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Ep1</c:v>
                </c:pt>
                <c:pt idx="1">
                  <c:v>Ep2</c:v>
                </c:pt>
                <c:pt idx="2">
                  <c:v>Ep3</c:v>
                </c:pt>
                <c:pt idx="3">
                  <c:v>Ep5</c:v>
                </c:pt>
                <c:pt idx="4">
                  <c:v>Ep7</c:v>
                </c:pt>
                <c:pt idx="5">
                  <c:v>Ep9</c:v>
                </c:pt>
                <c:pt idx="6">
                  <c:v>Ep11</c:v>
                </c:pt>
                <c:pt idx="7">
                  <c:v>Ep13</c:v>
                </c:pt>
                <c:pt idx="8">
                  <c:v>Ep15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42.4</c:v>
                </c:pt>
                <c:pt idx="1">
                  <c:v>66</c:v>
                </c:pt>
                <c:pt idx="2">
                  <c:v>70.099999999999994</c:v>
                </c:pt>
                <c:pt idx="3">
                  <c:v>71.900000000000006</c:v>
                </c:pt>
                <c:pt idx="4">
                  <c:v>76</c:v>
                </c:pt>
                <c:pt idx="5">
                  <c:v>78.400000000000006</c:v>
                </c:pt>
                <c:pt idx="6">
                  <c:v>78.400000000000006</c:v>
                </c:pt>
                <c:pt idx="7">
                  <c:v>78.8</c:v>
                </c:pt>
                <c:pt idx="8">
                  <c:v>79.2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65-4968-A746-B0CE4F2BB4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Norm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A6-4479-B0E9-7BBEBE041AB1}"/>
              </c:ext>
            </c:extLst>
          </c:dPt>
          <c:dPt>
            <c:idx val="1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A6-4479-B0E9-7BBEBE041AB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A6-4479-B0E9-7BBEBE041AB1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A6-4479-B0E9-7BBEBE041A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Cardiology</c:v>
                </c:pt>
                <c:pt idx="1">
                  <c:v>Neurology</c:v>
                </c:pt>
                <c:pt idx="2">
                  <c:v>Orthopedics</c:v>
                </c:pt>
                <c:pt idx="3">
                  <c:v>Gen. Medicine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</c:v>
                </c:pt>
                <c:pt idx="1">
                  <c:v>98</c:v>
                </c:pt>
                <c:pt idx="2">
                  <c:v>146</c:v>
                </c:pt>
                <c:pt idx="3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A6-4479-B0E9-7BBEBE041A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36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1ac0c1264a939ff52.gradio.liv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fe3ae81854df7bfbd.gradio.live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228600" cy="5029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949440" y="3992880"/>
            <a:ext cx="192024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949440" y="4020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411 · Spring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GPT-2 for Medical Specialty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from Clinical Conversations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025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Samuel Bonney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Department of Mathematics · Illinois State University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Advisor: Dr. </a:t>
            </a:r>
            <a:r>
              <a:rPr lang="en-US" sz="1300" dirty="0" err="1">
                <a:solidFill>
                  <a:srgbClr val="94A3B8"/>
                </a:solidFill>
              </a:rPr>
              <a:t>Maochao</a:t>
            </a:r>
            <a:r>
              <a:rPr lang="en-US" sz="1300" dirty="0">
                <a:solidFill>
                  <a:srgbClr val="94A3B8"/>
                </a:solidFill>
              </a:rPr>
              <a:t> Xu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29400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29400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9400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medical specialty classification?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1100"/>
            <a:ext cx="2788920" cy="3215640"/>
          </a:xfrm>
          <a:prstGeom prst="rect">
            <a:avLst/>
          </a:prstGeom>
          <a:solidFill>
            <a:srgbClr val="0D1F3C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Triage Bottleneck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spend critical time routing patients to the right specialist — time that could be spent on care.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1100"/>
            <a:ext cx="2788920" cy="3215640"/>
          </a:xfrm>
          <a:prstGeom prst="rect">
            <a:avLst/>
          </a:prstGeom>
          <a:solidFill>
            <a:srgbClr val="0D1F3C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37560" y="10789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EHR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664208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process millions of clinical notes. Automated specialty tagging enables faster retrieval, billing, and research.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1100"/>
            <a:ext cx="2788920" cy="3215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8892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09360" y="10789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Telemedicine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664208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patient types symptoms into a telehealth app, the classifier routes them to the right specialist instantly.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488180"/>
            <a:ext cx="8732520" cy="403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Fine-tune GPT-2 Medium to classify conversations into 4 specialties — Cardiology, Neurology, Orthopedics, General Medicine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13,492 labeled doctor-patient conversations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14800" cy="3520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3840480" cy="1124712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AGBonnet/augmented-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clinical-notes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22,068 usable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3840480" cy="1239012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ChatDoctor-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HealthCareMagic-100k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36620"/>
            <a:ext cx="3505200" cy="65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112,165 Q&amp;A pairs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added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05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labeling assigns specialty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≥1 keyword matched.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is the default.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3520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(80 / 10 / 10 stratified)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4023360" cy="2926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GPT2MedicalClassifier — follows GPT2BinaryClassifier pattern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828800" cy="822960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Conversation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tokens)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1920240"/>
            <a:ext cx="0" cy="15544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1828800" cy="1097280"/>
          </a:xfrm>
          <a:prstGeom prst="rect">
            <a:avLst/>
          </a:prstGeom>
          <a:solidFill>
            <a:srgbClr val="0D1F3C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2194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Backbone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 0–22)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330M params — FROZEN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3246120"/>
            <a:ext cx="0" cy="15544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3456432"/>
            <a:ext cx="18288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0040" y="3502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Block h[23]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Layer Norm ln_f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12.6M — TRAINABLE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904488"/>
            <a:ext cx="457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560320" y="3584448"/>
            <a:ext cx="2194560" cy="640080"/>
          </a:xfrm>
          <a:prstGeom prst="rect">
            <a:avLst/>
          </a:prstGeom>
          <a:solidFill>
            <a:srgbClr val="0D1F3C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606040" y="36027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(1024-dim)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904488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120640" y="3630168"/>
            <a:ext cx="1280160" cy="548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66360" y="364845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904488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766560" y="3538728"/>
            <a:ext cx="2057400" cy="73152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12280" y="3557016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(1024→4)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1051560"/>
            <a:ext cx="626364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697480" y="1097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Key Facts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97480" y="150876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788920" y="1554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354.8M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8620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210312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88920" y="2148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8620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(3.5%)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269748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788920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342.2M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8620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150876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852160" y="1554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4944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210312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852160" y="2148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697480"/>
            <a:ext cx="2880360" cy="502920"/>
          </a:xfrm>
          <a:prstGeom prst="rect">
            <a:avLst/>
          </a:prstGeom>
          <a:solidFill>
            <a:srgbClr val="3341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852160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4944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· A100 GPU · Two-phase learning rate schedule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987552"/>
            <a:ext cx="4224528" cy="3922776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Medium (345M)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 Length: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148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(eff. 32 w/ accum)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(wd = 0.01)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Phase 1 (ep 1–5):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10⁻⁵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Phase 2 (ep 6–10):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108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10⁻⁵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Phase 3 (ep 11–15):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10⁻⁵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069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4069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4389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987552"/>
            <a:ext cx="4407408" cy="3922776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Progression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754880" y="150876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· Val loss and accuracy tracked every epoch · Two-phase LR schedule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pic>
        <p:nvPicPr>
          <p:cNvPr id="8" name="Image 0" descr="/home/claude/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8412480" cy="29958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11480" y="4544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Train loss (blue) and Val loss (red) decline smoothly — no overfitting gap.  Right: Val accuracy from 42.4% → 79.2% across 15 epochs, beating random baseline (25%) 3×.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77.3% · Macro F1 0.782 · All classes improved vs.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965960" cy="1097280"/>
          </a:xfrm>
          <a:prstGeom prst="rect">
            <a:avLst/>
          </a:prstGeom>
          <a:solidFill>
            <a:srgbClr val="0D1F3C"/>
          </a:solidFill>
          <a:ln w="25400">
            <a:solidFill>
              <a:srgbClr val="06B6D4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68798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051560"/>
            <a:ext cx="1965960" cy="109728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96312" y="114300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96312" y="168798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1965960" cy="1097280"/>
          </a:xfrm>
          <a:prstGeom prst="rect">
            <a:avLst/>
          </a:prstGeom>
          <a:solidFill>
            <a:srgbClr val="0D1F3C"/>
          </a:solidFill>
          <a:ln w="25400">
            <a:solidFill>
              <a:srgbClr val="3498D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72584" y="114300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72584" y="168798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class)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051560"/>
            <a:ext cx="1965960" cy="1097280"/>
          </a:xfrm>
          <a:prstGeom prst="rect">
            <a:avLst/>
          </a:prstGeom>
          <a:solidFill>
            <a:srgbClr val="0D1F3C"/>
          </a:solidFill>
          <a:ln w="2540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48856" y="114300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68798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Medicine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(Hardest)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50292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1148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(Test Set)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43200"/>
          <a:ext cx="475488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0" y="2331720"/>
            <a:ext cx="338328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62356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 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5778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8660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0100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77840" y="3136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086600" y="3136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0" y="31363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01000" y="3136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77840" y="3483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F1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86600" y="3483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772400" y="3483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001000" y="3483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577840" y="3831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F1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86600" y="38313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0.693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772400" y="38313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01000" y="38313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577840" y="4178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Med. F1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86600" y="4178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72400" y="4178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001000" y="4178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reveals clinically explainable error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84632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n=1,350)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52728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5087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56232" y="1252728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1488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06624" y="1252728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7889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57016" y="1252728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Med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4290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Med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1508760"/>
            <a:ext cx="813816" cy="603504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5840" y="1508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56232" y="150876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856232" y="1508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06624" y="150876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06624" y="1508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57016" y="1508760"/>
            <a:ext cx="813816" cy="603504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557016" y="1508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214884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05840" y="214884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56232" y="2148840"/>
            <a:ext cx="813816" cy="603504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856232" y="214884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06624" y="214884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06624" y="214884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57016" y="214884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557016" y="214884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5840" y="278892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05840" y="2788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56232" y="278892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856232" y="2788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06624" y="2788920"/>
            <a:ext cx="813816" cy="603504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706624" y="2788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557016" y="2788920"/>
            <a:ext cx="813816" cy="603504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557016" y="2788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5840" y="3429000"/>
            <a:ext cx="813816" cy="603504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005840" y="342900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56232" y="3429000"/>
            <a:ext cx="813816" cy="603504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856232" y="342900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06624" y="3429000"/>
            <a:ext cx="813816" cy="603504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706624" y="342900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57016" y="3429000"/>
            <a:ext cx="813816" cy="603504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557016" y="342900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5840" y="4572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49240" y="1051560"/>
            <a:ext cx="352044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Neurology (89.8%)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0" y="1783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class. Neurological vocabulary (headache, seizure, stroke) is highly distinctive.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Cardiology (84.4%)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0" y="2587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performance. 32 cases confused with Gen. Medicine due to dyspnea overlap.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Orthopedics (77.3%)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0" y="339242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cases predicted as Gen. Medicine — back pain and fatigue appear in both specialties.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0" y="3922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Gen. Medicine (63.5%)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0" y="41970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class. 77 cases predicted as Orthopedics due to musculoskeletal overlap.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of 1024-dim GPT-2 hidden states — fine-tuning creates specialty clusters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pic>
        <p:nvPicPr>
          <p:cNvPr id="8" name="Image 0" descr="/home/claude/tsne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7552"/>
            <a:ext cx="8412480" cy="31394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11480" y="42519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Neurology  </a:t>
            </a:r>
            <a:r>
              <a:rPr lang="en-US" sz="1000" dirty="0">
                <a:solidFill>
                  <a:srgbClr val="F0F4F8"/>
                </a:solidFill>
              </a:rPr>
              <a:t>tightest cluster — neurological vocabulary is most distinctive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44531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Orthopedics </a:t>
            </a:r>
            <a:r>
              <a:rPr lang="en-US" sz="1000" dirty="0">
                <a:solidFill>
                  <a:srgbClr val="F0F4F8"/>
                </a:solidFill>
              </a:rPr>
              <a:t>separates lower-left — anatomical terms well separated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46542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Cardiology + Gen. Med. </a:t>
            </a:r>
            <a:r>
              <a:rPr lang="en-US" sz="1000" dirty="0">
                <a:solidFill>
                  <a:srgbClr val="F0F4F8"/>
                </a:solidFill>
              </a:rPr>
              <a:t>overlap in centre — mirrors their confusion matrix errors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of 1024-dim GPT-2 hidden states — fine-tuning creates specialty clusters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384048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From the Transformer paper (Vaswani et al. 2017):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Self-attention allows each token to attend to all others, building a 1024-dim contextual representation of the full conversation.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</a:rPr>
              <a:t>Neurology </a:t>
            </a:r>
            <a:r>
              <a:rPr lang="en-US" sz="1000" dirty="0">
                <a:solidFill>
                  <a:srgbClr val="F0F4F8"/>
                </a:solidFill>
              </a:rPr>
              <a:t>forms the tightest cluster — neurological vocabulary is most distinctive.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Orthopedics </a:t>
            </a:r>
            <a:r>
              <a:rPr lang="en-US" sz="1000" dirty="0">
                <a:solidFill>
                  <a:srgbClr val="F0F4F8"/>
                </a:solidFill>
              </a:rPr>
              <a:t>separates toward lower-left — anatomical terms (knee, hip, fracture) are well-separated.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Cardiology + Gen. Medicine </a:t>
            </a:r>
            <a:r>
              <a:rPr lang="en-US" sz="1000" dirty="0">
                <a:solidFill>
                  <a:srgbClr val="F0F4F8"/>
                </a:solidFill>
              </a:rPr>
              <a:t>overlap in centre — mirrors their confusion matrix errors.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Conclusion: </a:t>
            </a:r>
            <a:r>
              <a:rPr lang="en-US" sz="1000" dirty="0">
                <a:solidFill>
                  <a:srgbClr val="F0F4F8"/>
                </a:solidFill>
              </a:rPr>
              <a:t>Fine-tuning teaches GPT-2 to develop specialty-specific internal representations.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457200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43484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Embedding Magnitude (L2 Norm)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434840" y="1481328"/>
          <a:ext cx="4297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— real-time specialty prediction with confidence scoring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BioMed-Scribe  |  Samuel Bonney  |  Illinois State University  |  MAT 411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9822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256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New BioMed-Scribe — Medical Specialty Classifier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502920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Conversation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Doctor: What is the problem?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I have chest pain going 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left arm for the past hour and I 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sweating a lot.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Doctor: Any history of heart problems?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Yes, high blood pressure for years.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046220"/>
            <a:ext cx="5029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4320" y="40645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Classify Specialty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1211580"/>
            <a:ext cx="3291840" cy="3017520"/>
          </a:xfrm>
          <a:prstGeom prst="rect">
            <a:avLst/>
          </a:prstGeom>
          <a:solidFill>
            <a:srgbClr val="0D1F3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15000" y="12573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Specialty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5773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Cardiology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15000" y="20071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confidence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23545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6746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26746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3182112"/>
            <a:ext cx="301752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715000" y="2884932"/>
            <a:ext cx="27432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715000" y="30586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26680" y="30586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268980"/>
            <a:ext cx="301752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715000" y="34427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26680" y="34427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3653028"/>
            <a:ext cx="301752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715000" y="38267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38267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4037076"/>
            <a:ext cx="301752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74320" y="4523232"/>
            <a:ext cx="8595360" cy="425196"/>
          </a:xfrm>
          <a:prstGeom prst="rect">
            <a:avLst/>
          </a:prstGeom>
          <a:solidFill>
            <a:srgbClr val="0D1F3C"/>
          </a:solidFill>
          <a:ln w="317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4" name="Shape 32"/>
          <p:cNvSpPr/>
          <p:nvPr/>
        </p:nvSpPr>
        <p:spPr>
          <a:xfrm>
            <a:off x="274320" y="4553712"/>
            <a:ext cx="1371600" cy="3779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4320" y="45308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6085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[</a:t>
            </a:r>
            <a:r>
              <a:rPr lang="en-GB" sz="1600" dirty="0">
                <a:hlinkClick r:id="rId4"/>
              </a:rPr>
              <a:t>New BioMed-Scribe</a:t>
            </a:r>
            <a:r>
              <a:rPr lang="en-US" sz="15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749040"/>
          </a:xfrm>
          <a:prstGeom prst="rect">
            <a:avLst/>
          </a:prstGeom>
          <a:solidFill>
            <a:srgbClr val="334155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606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Medium fine-tuned on 10,793 labeled clinical conversations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12.6M of 354.8M parameters trained (3.5%)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 test accuracy · Macro F1 = 0.782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interactive Gradio 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88920" cy="3749040"/>
          </a:xfrm>
          <a:prstGeom prst="rect">
            <a:avLst/>
          </a:prstGeom>
          <a:solidFill>
            <a:srgbClr val="334155"/>
          </a:solidFill>
          <a:ln w="254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1840" y="9509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Found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89888"/>
            <a:ext cx="2606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induces specialty-specific hidden state clusters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has clearest separation (F1 = 0.877)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Medicine ↔ Orthopedics confusion is clinically explainable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sequences (512 vs 256 tokens) improve all metrics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88920" cy="3749040"/>
          </a:xfrm>
          <a:prstGeom prst="rect">
            <a:avLst/>
          </a:prstGeom>
          <a:solidFill>
            <a:srgbClr val="334155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8892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17920" y="9509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389888"/>
            <a:ext cx="2606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8+ specialties (Psychiatry, Dermatology, Gastroenterology)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annotation instead of keyword-based labeling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models: BioGPT, ClinicalBERT, GPT-4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real clinical EHR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" y="480060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Bonney  |  Illinois State University  |  MAT 411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667000" y="548640"/>
            <a:ext cx="3657600" cy="3657600"/>
          </a:xfrm>
          <a:prstGeom prst="ellipse">
            <a:avLst/>
          </a:prstGeom>
          <a:solidFill>
            <a:srgbClr val="334155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987040" y="868680"/>
            <a:ext cx="3017520" cy="3017520"/>
          </a:xfrm>
          <a:prstGeom prst="ellipse">
            <a:avLst/>
          </a:prstGeom>
          <a:solidFill>
            <a:srgbClr val="0D1F3C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5844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5844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901440" y="28346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55520" y="7315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24600" y="731520"/>
            <a:ext cx="411480" cy="4114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255520" y="3611880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24600" y="3611880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73152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73152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1480" y="1920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73152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73152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03720" y="1188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7315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0372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 Accuracy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2651760"/>
            <a:ext cx="7315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90372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0.782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0" y="43159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65760" y="4407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Bonney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 · Illinois State University · MAT 411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4370832"/>
            <a:ext cx="201168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858000" y="43708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1205</Words>
  <Application>Microsoft Office PowerPoint</Application>
  <PresentationFormat>On-screen Show (16:9)</PresentationFormat>
  <Paragraphs>301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BioMed-Scribe</dc:title>
  <dc:subject>PptxGenJS Presentation</dc:subject>
  <dc:creator>Samuel Bonney</dc:creator>
  <cp:lastModifiedBy>Samuel Bonney</cp:lastModifiedBy>
  <cp:revision>5</cp:revision>
  <dcterms:created xsi:type="dcterms:W3CDTF">2026-04-14T22:38:40Z</dcterms:created>
  <dcterms:modified xsi:type="dcterms:W3CDTF">2026-04-20T21:14:26Z</dcterms:modified>
</cp:coreProperties>
</file>